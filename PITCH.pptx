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otham" charset="1" panose="00000000000000000000"/>
      <p:regular r:id="rId13"/>
    </p:embeddedFont>
    <p:embeddedFont>
      <p:font typeface="Gotham Bold" charset="1" panose="00000000000000000000"/>
      <p:regular r:id="rId14"/>
    </p:embeddedFont>
    <p:embeddedFont>
      <p:font typeface="Droid Serif" charset="1" panose="02020600060500020200"/>
      <p:regular r:id="rId15"/>
    </p:embeddedFont>
    <p:embeddedFont>
      <p:font typeface="Gotham Heavy" charset="1" panose="02000900000000000000"/>
      <p:regular r:id="rId16"/>
    </p:embeddedFont>
    <p:embeddedFont>
      <p:font typeface="Garet Bold" charset="1" panose="00000000000000000000"/>
      <p:regular r:id="rId17"/>
    </p:embeddedFont>
    <p:embeddedFont>
      <p:font typeface="Garet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7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68302" y="-1384391"/>
            <a:ext cx="9696367" cy="11283045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821"/>
              <a:ext cx="698500" cy="805158"/>
            </a:xfrm>
            <a:custGeom>
              <a:avLst/>
              <a:gdLst/>
              <a:ahLst/>
              <a:cxnLst/>
              <a:rect r="r" b="b" t="t" l="l"/>
              <a:pathLst>
                <a:path h="805158" w="698500">
                  <a:moveTo>
                    <a:pt x="366449" y="6186"/>
                  </a:moveTo>
                  <a:lnTo>
                    <a:pt x="681301" y="189372"/>
                  </a:lnTo>
                  <a:cubicBezTo>
                    <a:pt x="691949" y="195568"/>
                    <a:pt x="698500" y="206958"/>
                    <a:pt x="698500" y="219277"/>
                  </a:cubicBezTo>
                  <a:lnTo>
                    <a:pt x="698500" y="585881"/>
                  </a:lnTo>
                  <a:cubicBezTo>
                    <a:pt x="698500" y="598200"/>
                    <a:pt x="691949" y="609590"/>
                    <a:pt x="681301" y="615786"/>
                  </a:cubicBezTo>
                  <a:lnTo>
                    <a:pt x="366449" y="798972"/>
                  </a:lnTo>
                  <a:cubicBezTo>
                    <a:pt x="355817" y="805158"/>
                    <a:pt x="342683" y="805158"/>
                    <a:pt x="332051" y="798972"/>
                  </a:cubicBezTo>
                  <a:lnTo>
                    <a:pt x="17199" y="615786"/>
                  </a:lnTo>
                  <a:cubicBezTo>
                    <a:pt x="6551" y="609590"/>
                    <a:pt x="0" y="598200"/>
                    <a:pt x="0" y="585881"/>
                  </a:cubicBezTo>
                  <a:lnTo>
                    <a:pt x="0" y="219277"/>
                  </a:lnTo>
                  <a:cubicBezTo>
                    <a:pt x="0" y="206958"/>
                    <a:pt x="6551" y="195568"/>
                    <a:pt x="17199" y="189372"/>
                  </a:cubicBezTo>
                  <a:lnTo>
                    <a:pt x="332051" y="6186"/>
                  </a:lnTo>
                  <a:cubicBezTo>
                    <a:pt x="342683" y="0"/>
                    <a:pt x="355817" y="0"/>
                    <a:pt x="366449" y="6186"/>
                  </a:cubicBezTo>
                  <a:close/>
                </a:path>
              </a:pathLst>
            </a:custGeom>
            <a:solidFill>
              <a:srgbClr val="1B83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3500"/>
              <a:ext cx="698500" cy="60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53914" y="611389"/>
            <a:ext cx="9515977" cy="11073137"/>
            <a:chOff x="0" y="0"/>
            <a:chExt cx="6985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4296"/>
              <a:ext cx="698500" cy="804208"/>
            </a:xfrm>
            <a:custGeom>
              <a:avLst/>
              <a:gdLst/>
              <a:ahLst/>
              <a:cxnLst/>
              <a:rect r="r" b="b" t="t" l="l"/>
              <a:pathLst>
                <a:path h="804208" w="698500">
                  <a:moveTo>
                    <a:pt x="368588" y="6955"/>
                  </a:moveTo>
                  <a:lnTo>
                    <a:pt x="679162" y="187653"/>
                  </a:lnTo>
                  <a:cubicBezTo>
                    <a:pt x="691135" y="194619"/>
                    <a:pt x="698500" y="207425"/>
                    <a:pt x="698500" y="221277"/>
                  </a:cubicBezTo>
                  <a:lnTo>
                    <a:pt x="698500" y="582931"/>
                  </a:lnTo>
                  <a:cubicBezTo>
                    <a:pt x="698500" y="596783"/>
                    <a:pt x="691135" y="609589"/>
                    <a:pt x="679162" y="616555"/>
                  </a:cubicBezTo>
                  <a:lnTo>
                    <a:pt x="368588" y="797253"/>
                  </a:lnTo>
                  <a:cubicBezTo>
                    <a:pt x="356634" y="804208"/>
                    <a:pt x="341866" y="804208"/>
                    <a:pt x="329912" y="797253"/>
                  </a:cubicBezTo>
                  <a:lnTo>
                    <a:pt x="19338" y="616555"/>
                  </a:lnTo>
                  <a:cubicBezTo>
                    <a:pt x="7366" y="609589"/>
                    <a:pt x="0" y="596783"/>
                    <a:pt x="0" y="582931"/>
                  </a:cubicBezTo>
                  <a:lnTo>
                    <a:pt x="0" y="221277"/>
                  </a:lnTo>
                  <a:cubicBezTo>
                    <a:pt x="0" y="207425"/>
                    <a:pt x="7366" y="194619"/>
                    <a:pt x="19338" y="187653"/>
                  </a:cubicBezTo>
                  <a:lnTo>
                    <a:pt x="329912" y="6955"/>
                  </a:lnTo>
                  <a:cubicBezTo>
                    <a:pt x="341866" y="0"/>
                    <a:pt x="356634" y="0"/>
                    <a:pt x="368588" y="6955"/>
                  </a:cubicBezTo>
                  <a:close/>
                </a:path>
              </a:pathLst>
            </a:custGeom>
            <a:blipFill>
              <a:blip r:embed="rId2"/>
              <a:stretch>
                <a:fillRect l="-7317" t="0" r="-731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40532" y="8694910"/>
            <a:ext cx="1050645" cy="1222569"/>
            <a:chOff x="0" y="0"/>
            <a:chExt cx="6985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8240"/>
              <a:ext cx="698500" cy="776320"/>
            </a:xfrm>
            <a:custGeom>
              <a:avLst/>
              <a:gdLst/>
              <a:ahLst/>
              <a:cxnLst/>
              <a:rect r="r" b="b" t="t" l="l"/>
              <a:pathLst>
                <a:path h="776320" w="698500">
                  <a:moveTo>
                    <a:pt x="431352" y="29529"/>
                  </a:moveTo>
                  <a:lnTo>
                    <a:pt x="616398" y="137191"/>
                  </a:lnTo>
                  <a:cubicBezTo>
                    <a:pt x="667229" y="166766"/>
                    <a:pt x="698500" y="221139"/>
                    <a:pt x="698500" y="279948"/>
                  </a:cubicBezTo>
                  <a:lnTo>
                    <a:pt x="698500" y="496372"/>
                  </a:lnTo>
                  <a:cubicBezTo>
                    <a:pt x="698500" y="555181"/>
                    <a:pt x="667229" y="609554"/>
                    <a:pt x="616398" y="639129"/>
                  </a:cubicBezTo>
                  <a:lnTo>
                    <a:pt x="431352" y="746791"/>
                  </a:lnTo>
                  <a:cubicBezTo>
                    <a:pt x="380600" y="776320"/>
                    <a:pt x="317900" y="776320"/>
                    <a:pt x="267148" y="746791"/>
                  </a:cubicBezTo>
                  <a:lnTo>
                    <a:pt x="82102" y="639129"/>
                  </a:lnTo>
                  <a:cubicBezTo>
                    <a:pt x="31271" y="609554"/>
                    <a:pt x="0" y="555181"/>
                    <a:pt x="0" y="496372"/>
                  </a:cubicBezTo>
                  <a:lnTo>
                    <a:pt x="0" y="279948"/>
                  </a:lnTo>
                  <a:cubicBezTo>
                    <a:pt x="0" y="221139"/>
                    <a:pt x="31271" y="166766"/>
                    <a:pt x="82102" y="137191"/>
                  </a:cubicBezTo>
                  <a:lnTo>
                    <a:pt x="267148" y="29529"/>
                  </a:lnTo>
                  <a:cubicBezTo>
                    <a:pt x="317900" y="0"/>
                    <a:pt x="380600" y="0"/>
                    <a:pt x="431352" y="29529"/>
                  </a:cubicBezTo>
                  <a:close/>
                </a:path>
              </a:pathLst>
            </a:custGeom>
            <a:solidFill>
              <a:srgbClr val="08A54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73025"/>
              <a:ext cx="6985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01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55401" y="-611389"/>
            <a:ext cx="2228298" cy="1222779"/>
          </a:xfrm>
          <a:custGeom>
            <a:avLst/>
            <a:gdLst/>
            <a:ahLst/>
            <a:cxnLst/>
            <a:rect r="r" b="b" t="t" l="l"/>
            <a:pathLst>
              <a:path h="1222779" w="2228298">
                <a:moveTo>
                  <a:pt x="0" y="0"/>
                </a:moveTo>
                <a:lnTo>
                  <a:pt x="2228298" y="0"/>
                </a:lnTo>
                <a:lnTo>
                  <a:pt x="2228298" y="1222778"/>
                </a:lnTo>
                <a:lnTo>
                  <a:pt x="0" y="1222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flipV="true">
            <a:off x="1355401" y="7830924"/>
            <a:ext cx="960043" cy="0"/>
          </a:xfrm>
          <a:prstGeom prst="line">
            <a:avLst/>
          </a:prstGeom>
          <a:ln cap="flat" w="38100">
            <a:solidFill>
              <a:srgbClr val="08A54C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2" id="12"/>
          <p:cNvSpPr txBox="true"/>
          <p:nvPr/>
        </p:nvSpPr>
        <p:spPr>
          <a:xfrm rot="0">
            <a:off x="1355401" y="2925572"/>
            <a:ext cx="7376846" cy="355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48"/>
              </a:lnSpc>
            </a:pPr>
            <a:r>
              <a:rPr lang="en-US" b="true" sz="10400" spc="-312">
                <a:solidFill>
                  <a:srgbClr val="08A54C"/>
                </a:solidFill>
                <a:latin typeface="Gotham Bold"/>
                <a:ea typeface="Gotham Bold"/>
                <a:cs typeface="Gotham Bold"/>
                <a:sym typeface="Gotham Bold"/>
              </a:rPr>
              <a:t>ATM SMART ZONING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5401" y="6409437"/>
            <a:ext cx="7376846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 spc="-96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ENHANC</a:t>
            </a:r>
            <a:r>
              <a:rPr lang="en-US" b="true" sz="3200" spc="-96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ING ZONE EFFICIENCY WITH AI-POWERED OPTIMIZATION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69550" y="7623279"/>
            <a:ext cx="407105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960">
                <a:solidFill>
                  <a:srgbClr val="08A54C"/>
                </a:solidFill>
                <a:latin typeface="Gotham Bold"/>
                <a:ea typeface="Gotham Bold"/>
                <a:cs typeface="Gotham Bold"/>
                <a:sym typeface="Gotham Bold"/>
              </a:rPr>
              <a:t>PRESENTATON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24140" y="0"/>
            <a:ext cx="7963860" cy="10287000"/>
            <a:chOff x="0" y="0"/>
            <a:chExt cx="1061848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3939" r="0" b="0"/>
            <a:stretch>
              <a:fillRect/>
            </a:stretch>
          </p:blipFill>
          <p:spPr>
            <a:xfrm flipH="false" flipV="false">
              <a:off x="0" y="0"/>
              <a:ext cx="1061848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324140" y="5739795"/>
            <a:ext cx="7433852" cy="3243613"/>
            <a:chOff x="0" y="0"/>
            <a:chExt cx="1957887" cy="8542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7887" cy="854285"/>
            </a:xfrm>
            <a:custGeom>
              <a:avLst/>
              <a:gdLst/>
              <a:ahLst/>
              <a:cxnLst/>
              <a:rect r="r" b="b" t="t" l="l"/>
              <a:pathLst>
                <a:path h="854285" w="1957887">
                  <a:moveTo>
                    <a:pt x="0" y="0"/>
                  </a:moveTo>
                  <a:lnTo>
                    <a:pt x="1957887" y="0"/>
                  </a:lnTo>
                  <a:lnTo>
                    <a:pt x="1957887" y="854285"/>
                  </a:lnTo>
                  <a:lnTo>
                    <a:pt x="0" y="854285"/>
                  </a:lnTo>
                  <a:close/>
                </a:path>
              </a:pathLst>
            </a:custGeom>
            <a:solidFill>
              <a:srgbClr val="08A54C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957887" cy="901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40532" y="8694910"/>
            <a:ext cx="1050645" cy="1222569"/>
            <a:chOff x="0" y="0"/>
            <a:chExt cx="6985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8240"/>
              <a:ext cx="698500" cy="776320"/>
            </a:xfrm>
            <a:custGeom>
              <a:avLst/>
              <a:gdLst/>
              <a:ahLst/>
              <a:cxnLst/>
              <a:rect r="r" b="b" t="t" l="l"/>
              <a:pathLst>
                <a:path h="776320" w="698500">
                  <a:moveTo>
                    <a:pt x="431352" y="29529"/>
                  </a:moveTo>
                  <a:lnTo>
                    <a:pt x="616398" y="137191"/>
                  </a:lnTo>
                  <a:cubicBezTo>
                    <a:pt x="667229" y="166766"/>
                    <a:pt x="698500" y="221139"/>
                    <a:pt x="698500" y="279948"/>
                  </a:cubicBezTo>
                  <a:lnTo>
                    <a:pt x="698500" y="496372"/>
                  </a:lnTo>
                  <a:cubicBezTo>
                    <a:pt x="698500" y="555181"/>
                    <a:pt x="667229" y="609554"/>
                    <a:pt x="616398" y="639129"/>
                  </a:cubicBezTo>
                  <a:lnTo>
                    <a:pt x="431352" y="746791"/>
                  </a:lnTo>
                  <a:cubicBezTo>
                    <a:pt x="380600" y="776320"/>
                    <a:pt x="317900" y="776320"/>
                    <a:pt x="267148" y="746791"/>
                  </a:cubicBezTo>
                  <a:lnTo>
                    <a:pt x="82102" y="639129"/>
                  </a:lnTo>
                  <a:cubicBezTo>
                    <a:pt x="31271" y="609554"/>
                    <a:pt x="0" y="555181"/>
                    <a:pt x="0" y="496372"/>
                  </a:cubicBezTo>
                  <a:lnTo>
                    <a:pt x="0" y="279948"/>
                  </a:lnTo>
                  <a:cubicBezTo>
                    <a:pt x="0" y="221139"/>
                    <a:pt x="31271" y="166766"/>
                    <a:pt x="82102" y="137191"/>
                  </a:cubicBezTo>
                  <a:lnTo>
                    <a:pt x="267148" y="29529"/>
                  </a:lnTo>
                  <a:cubicBezTo>
                    <a:pt x="317900" y="0"/>
                    <a:pt x="380600" y="0"/>
                    <a:pt x="431352" y="29529"/>
                  </a:cubicBezTo>
                  <a:close/>
                </a:path>
              </a:pathLst>
            </a:custGeom>
            <a:solidFill>
              <a:srgbClr val="08A54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73025"/>
              <a:ext cx="6985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02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55401" y="-611389"/>
            <a:ext cx="2228298" cy="1222779"/>
          </a:xfrm>
          <a:custGeom>
            <a:avLst/>
            <a:gdLst/>
            <a:ahLst/>
            <a:cxnLst/>
            <a:rect r="r" b="b" t="t" l="l"/>
            <a:pathLst>
              <a:path h="1222779" w="2228298">
                <a:moveTo>
                  <a:pt x="0" y="0"/>
                </a:moveTo>
                <a:lnTo>
                  <a:pt x="2228298" y="0"/>
                </a:lnTo>
                <a:lnTo>
                  <a:pt x="2228298" y="1222778"/>
                </a:lnTo>
                <a:lnTo>
                  <a:pt x="0" y="1222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998978" y="6402621"/>
            <a:ext cx="6084176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spc="27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Business requirements are defined by the managers of Mobilis, and our intelligent model uses them as the foundation for automated, optimized zone assignments.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5401" y="2632657"/>
            <a:ext cx="7788599" cy="8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b="true" sz="6399" spc="-191">
                <a:solidFill>
                  <a:srgbClr val="08A54C"/>
                </a:solidFill>
                <a:latin typeface="Gotham Heavy"/>
                <a:ea typeface="Gotham Heavy"/>
                <a:cs typeface="Gotham Heavy"/>
                <a:sym typeface="Gotham Heavy"/>
              </a:rPr>
              <a:t>INTRODUCTION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347997"/>
            <a:ext cx="8220877" cy="350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216" spc="-2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Problem Statement:</a:t>
            </a:r>
            <a:r>
              <a:rPr lang="en-US" sz="2216" spc="-2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2216" spc="-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sales managers manually assigned points of sale (PDVs) to field representatives, often leading to imbalanced workloads and inefficient coverage.</a:t>
            </a:r>
          </a:p>
          <a:p>
            <a:pPr algn="l">
              <a:lnSpc>
                <a:spcPts val="3103"/>
              </a:lnSpc>
            </a:pPr>
          </a:p>
          <a:p>
            <a:pPr algn="l">
              <a:lnSpc>
                <a:spcPts val="3103"/>
              </a:lnSpc>
              <a:spcBef>
                <a:spcPct val="0"/>
              </a:spcBef>
            </a:pPr>
            <a:r>
              <a:rPr lang="en-US" b="true" sz="2216" spc="-2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Solution:</a:t>
            </a:r>
            <a:r>
              <a:rPr lang="en-US" sz="2216" spc="-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We are introducing an intelligent, AI-powered model that automates zone assignment while ensuring clusters are optimized based on predefined business requirements.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11735" y="-1958643"/>
            <a:ext cx="10206042" cy="11876122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630"/>
              <a:ext cx="698500" cy="805540"/>
            </a:xfrm>
            <a:custGeom>
              <a:avLst/>
              <a:gdLst/>
              <a:ahLst/>
              <a:cxnLst/>
              <a:rect r="r" b="b" t="t" l="l"/>
              <a:pathLst>
                <a:path h="805540" w="698500">
                  <a:moveTo>
                    <a:pt x="365590" y="5877"/>
                  </a:moveTo>
                  <a:lnTo>
                    <a:pt x="682160" y="190063"/>
                  </a:lnTo>
                  <a:cubicBezTo>
                    <a:pt x="692276" y="195949"/>
                    <a:pt x="698500" y="206770"/>
                    <a:pt x="698500" y="218475"/>
                  </a:cubicBezTo>
                  <a:lnTo>
                    <a:pt x="698500" y="587065"/>
                  </a:lnTo>
                  <a:cubicBezTo>
                    <a:pt x="698500" y="598770"/>
                    <a:pt x="692276" y="609591"/>
                    <a:pt x="682160" y="615477"/>
                  </a:cubicBezTo>
                  <a:lnTo>
                    <a:pt x="365590" y="799663"/>
                  </a:lnTo>
                  <a:cubicBezTo>
                    <a:pt x="355489" y="805540"/>
                    <a:pt x="343011" y="805540"/>
                    <a:pt x="332910" y="799663"/>
                  </a:cubicBezTo>
                  <a:lnTo>
                    <a:pt x="16340" y="615477"/>
                  </a:lnTo>
                  <a:cubicBezTo>
                    <a:pt x="6224" y="609591"/>
                    <a:pt x="0" y="598770"/>
                    <a:pt x="0" y="587065"/>
                  </a:cubicBezTo>
                  <a:lnTo>
                    <a:pt x="0" y="218475"/>
                  </a:lnTo>
                  <a:cubicBezTo>
                    <a:pt x="0" y="206770"/>
                    <a:pt x="6224" y="195949"/>
                    <a:pt x="16340" y="190063"/>
                  </a:cubicBezTo>
                  <a:lnTo>
                    <a:pt x="332910" y="5877"/>
                  </a:lnTo>
                  <a:cubicBezTo>
                    <a:pt x="343011" y="0"/>
                    <a:pt x="355489" y="0"/>
                    <a:pt x="365590" y="5877"/>
                  </a:cubicBezTo>
                  <a:close/>
                </a:path>
              </a:pathLst>
            </a:custGeom>
            <a:solidFill>
              <a:srgbClr val="08A54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3500"/>
              <a:ext cx="698500" cy="60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54611" y="-611389"/>
            <a:ext cx="3905835" cy="5801017"/>
            <a:chOff x="0" y="0"/>
            <a:chExt cx="5207779" cy="7734690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0" t="0" r="0" b="8842"/>
            <a:stretch>
              <a:fillRect/>
            </a:stretch>
          </p:blipFill>
          <p:spPr>
            <a:xfrm flipH="false" flipV="false">
              <a:off x="0" y="0"/>
              <a:ext cx="5207779" cy="7734690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13977090" y="1436000"/>
            <a:ext cx="4035218" cy="6422853"/>
            <a:chOff x="0" y="0"/>
            <a:chExt cx="5380291" cy="8563804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2851" t="0" r="2851" b="0"/>
            <a:stretch>
              <a:fillRect/>
            </a:stretch>
          </p:blipFill>
          <p:spPr>
            <a:xfrm flipH="false" flipV="false">
              <a:off x="0" y="0"/>
              <a:ext cx="5380291" cy="8563804"/>
            </a:xfrm>
            <a:prstGeom prst="rect">
              <a:avLst/>
            </a:prstGeom>
          </p:spPr>
        </p:pic>
      </p:grpSp>
      <p:grpSp>
        <p:nvGrpSpPr>
          <p:cNvPr name="Group 9" id="9"/>
          <p:cNvGrpSpPr/>
          <p:nvPr/>
        </p:nvGrpSpPr>
        <p:grpSpPr>
          <a:xfrm rot="0">
            <a:off x="9854611" y="5394620"/>
            <a:ext cx="3905835" cy="5446949"/>
            <a:chOff x="0" y="0"/>
            <a:chExt cx="5207779" cy="7262598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4"/>
            <a:srcRect l="24968" t="0" r="41421" b="0"/>
            <a:stretch>
              <a:fillRect/>
            </a:stretch>
          </p:blipFill>
          <p:spPr>
            <a:xfrm flipH="false" flipV="false">
              <a:off x="0" y="0"/>
              <a:ext cx="5207779" cy="7262598"/>
            </a:xfrm>
            <a:prstGeom prst="rect">
              <a:avLst/>
            </a:prstGeom>
          </p:spPr>
        </p:pic>
      </p:grpSp>
      <p:grpSp>
        <p:nvGrpSpPr>
          <p:cNvPr name="Group 11" id="11"/>
          <p:cNvGrpSpPr/>
          <p:nvPr/>
        </p:nvGrpSpPr>
        <p:grpSpPr>
          <a:xfrm rot="0">
            <a:off x="540532" y="8694910"/>
            <a:ext cx="1050645" cy="1222569"/>
            <a:chOff x="0" y="0"/>
            <a:chExt cx="6985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8240"/>
              <a:ext cx="698500" cy="776320"/>
            </a:xfrm>
            <a:custGeom>
              <a:avLst/>
              <a:gdLst/>
              <a:ahLst/>
              <a:cxnLst/>
              <a:rect r="r" b="b" t="t" l="l"/>
              <a:pathLst>
                <a:path h="776320" w="698500">
                  <a:moveTo>
                    <a:pt x="431352" y="29529"/>
                  </a:moveTo>
                  <a:lnTo>
                    <a:pt x="616398" y="137191"/>
                  </a:lnTo>
                  <a:cubicBezTo>
                    <a:pt x="667229" y="166766"/>
                    <a:pt x="698500" y="221139"/>
                    <a:pt x="698500" y="279948"/>
                  </a:cubicBezTo>
                  <a:lnTo>
                    <a:pt x="698500" y="496372"/>
                  </a:lnTo>
                  <a:cubicBezTo>
                    <a:pt x="698500" y="555181"/>
                    <a:pt x="667229" y="609554"/>
                    <a:pt x="616398" y="639129"/>
                  </a:cubicBezTo>
                  <a:lnTo>
                    <a:pt x="431352" y="746791"/>
                  </a:lnTo>
                  <a:cubicBezTo>
                    <a:pt x="380600" y="776320"/>
                    <a:pt x="317900" y="776320"/>
                    <a:pt x="267148" y="746791"/>
                  </a:cubicBezTo>
                  <a:lnTo>
                    <a:pt x="82102" y="639129"/>
                  </a:lnTo>
                  <a:cubicBezTo>
                    <a:pt x="31271" y="609554"/>
                    <a:pt x="0" y="555181"/>
                    <a:pt x="0" y="496372"/>
                  </a:cubicBezTo>
                  <a:lnTo>
                    <a:pt x="0" y="279948"/>
                  </a:lnTo>
                  <a:cubicBezTo>
                    <a:pt x="0" y="221139"/>
                    <a:pt x="31271" y="166766"/>
                    <a:pt x="82102" y="137191"/>
                  </a:cubicBezTo>
                  <a:lnTo>
                    <a:pt x="267148" y="29529"/>
                  </a:lnTo>
                  <a:cubicBezTo>
                    <a:pt x="317900" y="0"/>
                    <a:pt x="380600" y="0"/>
                    <a:pt x="431352" y="29529"/>
                  </a:cubicBezTo>
                  <a:close/>
                </a:path>
              </a:pathLst>
            </a:custGeom>
            <a:solidFill>
              <a:srgbClr val="08A54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73025"/>
              <a:ext cx="6985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03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55401" y="-611389"/>
            <a:ext cx="2228298" cy="1222779"/>
          </a:xfrm>
          <a:custGeom>
            <a:avLst/>
            <a:gdLst/>
            <a:ahLst/>
            <a:cxnLst/>
            <a:rect r="r" b="b" t="t" l="l"/>
            <a:pathLst>
              <a:path h="1222779" w="2228298">
                <a:moveTo>
                  <a:pt x="0" y="0"/>
                </a:moveTo>
                <a:lnTo>
                  <a:pt x="2228298" y="0"/>
                </a:lnTo>
                <a:lnTo>
                  <a:pt x="2228298" y="1222778"/>
                </a:lnTo>
                <a:lnTo>
                  <a:pt x="0" y="12227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55401" y="1512200"/>
            <a:ext cx="7788599" cy="176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47"/>
              </a:lnSpc>
              <a:spcBef>
                <a:spcPct val="0"/>
              </a:spcBef>
            </a:pPr>
            <a:r>
              <a:rPr lang="en-US" b="true" sz="6399" spc="-191">
                <a:solidFill>
                  <a:srgbClr val="08A54C"/>
                </a:solidFill>
                <a:latin typeface="Gotham Bold"/>
                <a:ea typeface="Gotham Bold"/>
                <a:cs typeface="Gotham Bold"/>
                <a:sym typeface="Gotham Bold"/>
              </a:rPr>
              <a:t>BUSINESS REQUIREMENT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5401" y="3413760"/>
            <a:ext cx="7788599" cy="542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 spc="-24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Web Platform:</a:t>
            </a:r>
          </a:p>
          <a:p>
            <a:pPr algn="l">
              <a:lnSpc>
                <a:spcPts val="3359"/>
              </a:lnSpc>
            </a:pP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centralized dashboard for managers to view  zones, add or remove PDVs, assign zones to  representatives, and manually select specific PDVs for assignment. 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 spc="-24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AI Optimization Model:</a:t>
            </a:r>
          </a:p>
          <a:p>
            <a:pPr algn="l">
              <a:lnSpc>
                <a:spcPts val="3359"/>
              </a:lnSpc>
            </a:pP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 generate automated zoning and the update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 spc="-24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Mobile Application:</a:t>
            </a:r>
          </a:p>
          <a:p>
            <a:pPr algn="l">
              <a:lnSpc>
                <a:spcPts val="3359"/>
              </a:lnSpc>
            </a:pP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 user-friendly app for field representatives to receive assignments, check in/out at PDVs(</a:t>
            </a:r>
            <a:r>
              <a:rPr lang="en-US" sz="2400" spc="-24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QR Code</a:t>
            </a: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) and get optimized daily routes with GPS support.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86738" y="0"/>
            <a:ext cx="8401262" cy="5143500"/>
            <a:chOff x="0" y="0"/>
            <a:chExt cx="11201683" cy="6858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1411" t="0" r="11411" b="0"/>
            <a:stretch>
              <a:fillRect/>
            </a:stretch>
          </p:blipFill>
          <p:spPr>
            <a:xfrm flipH="false" flipV="false">
              <a:off x="0" y="0"/>
              <a:ext cx="11201683" cy="6858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862925" y="5366557"/>
            <a:ext cx="8401262" cy="495009"/>
            <a:chOff x="0" y="0"/>
            <a:chExt cx="2212678" cy="1303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2678" cy="130373"/>
            </a:xfrm>
            <a:custGeom>
              <a:avLst/>
              <a:gdLst/>
              <a:ahLst/>
              <a:cxnLst/>
              <a:rect r="r" b="b" t="t" l="l"/>
              <a:pathLst>
                <a:path h="130373" w="2212678">
                  <a:moveTo>
                    <a:pt x="0" y="0"/>
                  </a:moveTo>
                  <a:lnTo>
                    <a:pt x="2212678" y="0"/>
                  </a:lnTo>
                  <a:lnTo>
                    <a:pt x="2212678" y="130373"/>
                  </a:lnTo>
                  <a:lnTo>
                    <a:pt x="0" y="130373"/>
                  </a:lnTo>
                  <a:close/>
                </a:path>
              </a:pathLst>
            </a:custGeom>
            <a:solidFill>
              <a:srgbClr val="08A54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12678" cy="168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886738" y="6084623"/>
            <a:ext cx="8401262" cy="4202377"/>
            <a:chOff x="0" y="0"/>
            <a:chExt cx="11201683" cy="560317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537" t="0" r="5751" b="0"/>
            <a:stretch>
              <a:fillRect/>
            </a:stretch>
          </p:blipFill>
          <p:spPr>
            <a:xfrm flipH="false" flipV="false">
              <a:off x="0" y="0"/>
              <a:ext cx="11201683" cy="5603170"/>
            </a:xfrm>
            <a:prstGeom prst="rect">
              <a:avLst/>
            </a:prstGeom>
          </p:spPr>
        </p:pic>
      </p:grpSp>
      <p:grpSp>
        <p:nvGrpSpPr>
          <p:cNvPr name="Group 9" id="9"/>
          <p:cNvGrpSpPr/>
          <p:nvPr/>
        </p:nvGrpSpPr>
        <p:grpSpPr>
          <a:xfrm rot="0">
            <a:off x="540532" y="8694910"/>
            <a:ext cx="1050645" cy="1222569"/>
            <a:chOff x="0" y="0"/>
            <a:chExt cx="6985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8240"/>
              <a:ext cx="698500" cy="776320"/>
            </a:xfrm>
            <a:custGeom>
              <a:avLst/>
              <a:gdLst/>
              <a:ahLst/>
              <a:cxnLst/>
              <a:rect r="r" b="b" t="t" l="l"/>
              <a:pathLst>
                <a:path h="776320" w="698500">
                  <a:moveTo>
                    <a:pt x="431352" y="29529"/>
                  </a:moveTo>
                  <a:lnTo>
                    <a:pt x="616398" y="137191"/>
                  </a:lnTo>
                  <a:cubicBezTo>
                    <a:pt x="667229" y="166766"/>
                    <a:pt x="698500" y="221139"/>
                    <a:pt x="698500" y="279948"/>
                  </a:cubicBezTo>
                  <a:lnTo>
                    <a:pt x="698500" y="496372"/>
                  </a:lnTo>
                  <a:cubicBezTo>
                    <a:pt x="698500" y="555181"/>
                    <a:pt x="667229" y="609554"/>
                    <a:pt x="616398" y="639129"/>
                  </a:cubicBezTo>
                  <a:lnTo>
                    <a:pt x="431352" y="746791"/>
                  </a:lnTo>
                  <a:cubicBezTo>
                    <a:pt x="380600" y="776320"/>
                    <a:pt x="317900" y="776320"/>
                    <a:pt x="267148" y="746791"/>
                  </a:cubicBezTo>
                  <a:lnTo>
                    <a:pt x="82102" y="639129"/>
                  </a:lnTo>
                  <a:cubicBezTo>
                    <a:pt x="31271" y="609554"/>
                    <a:pt x="0" y="555181"/>
                    <a:pt x="0" y="496372"/>
                  </a:cubicBezTo>
                  <a:lnTo>
                    <a:pt x="0" y="279948"/>
                  </a:lnTo>
                  <a:cubicBezTo>
                    <a:pt x="0" y="221139"/>
                    <a:pt x="31271" y="166766"/>
                    <a:pt x="82102" y="137191"/>
                  </a:cubicBezTo>
                  <a:lnTo>
                    <a:pt x="267148" y="29529"/>
                  </a:lnTo>
                  <a:cubicBezTo>
                    <a:pt x="317900" y="0"/>
                    <a:pt x="380600" y="0"/>
                    <a:pt x="431352" y="29529"/>
                  </a:cubicBezTo>
                  <a:close/>
                </a:path>
              </a:pathLst>
            </a:custGeom>
            <a:solidFill>
              <a:srgbClr val="08A54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73025"/>
              <a:ext cx="6985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04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55401" y="-611389"/>
            <a:ext cx="2228298" cy="1222779"/>
          </a:xfrm>
          <a:custGeom>
            <a:avLst/>
            <a:gdLst/>
            <a:ahLst/>
            <a:cxnLst/>
            <a:rect r="r" b="b" t="t" l="l"/>
            <a:pathLst>
              <a:path h="1222779" w="2228298">
                <a:moveTo>
                  <a:pt x="0" y="0"/>
                </a:moveTo>
                <a:lnTo>
                  <a:pt x="2228298" y="0"/>
                </a:lnTo>
                <a:lnTo>
                  <a:pt x="2228298" y="1222778"/>
                </a:lnTo>
                <a:lnTo>
                  <a:pt x="0" y="1222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65855" y="3592830"/>
            <a:ext cx="7788599" cy="584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24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CSV Upload:</a:t>
            </a: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Managers can upload a CSV file containing PDV (Point of Sale) data for bulk processing.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24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Customizable K Value:</a:t>
            </a: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Managers can define the number of sales representatives (K value) to generate the optimal number of zones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24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Dynamic Zone Updates</a:t>
            </a: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Managers can add or remove PDVs on the fly, and the system will automatically update and reassign zones accordingly.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AutoShape 14" id="14"/>
          <p:cNvSpPr/>
          <p:nvPr/>
        </p:nvSpPr>
        <p:spPr>
          <a:xfrm>
            <a:off x="3412843" y="9277350"/>
            <a:ext cx="960043" cy="0"/>
          </a:xfrm>
          <a:prstGeom prst="line">
            <a:avLst/>
          </a:prstGeom>
          <a:ln cap="flat" w="38100">
            <a:solidFill>
              <a:srgbClr val="08A54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5400000">
            <a:off x="4600119" y="5238994"/>
            <a:ext cx="10525613" cy="47625"/>
            <a:chOff x="0" y="0"/>
            <a:chExt cx="2772178" cy="125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72178" cy="12543"/>
            </a:xfrm>
            <a:custGeom>
              <a:avLst/>
              <a:gdLst/>
              <a:ahLst/>
              <a:cxnLst/>
              <a:rect r="r" b="b" t="t" l="l"/>
              <a:pathLst>
                <a:path h="12543" w="2772178">
                  <a:moveTo>
                    <a:pt x="0" y="0"/>
                  </a:moveTo>
                  <a:lnTo>
                    <a:pt x="2772178" y="0"/>
                  </a:lnTo>
                  <a:lnTo>
                    <a:pt x="2772178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8A54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7721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55401" y="2314005"/>
            <a:ext cx="7788599" cy="8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47"/>
              </a:lnSpc>
              <a:spcBef>
                <a:spcPct val="0"/>
              </a:spcBef>
            </a:pPr>
            <a:r>
              <a:rPr lang="en-US" b="true" sz="6399" spc="-191">
                <a:solidFill>
                  <a:srgbClr val="08A54C"/>
                </a:solidFill>
                <a:latin typeface="Gotham Heavy"/>
                <a:ea typeface="Gotham Heavy"/>
                <a:cs typeface="Gotham Heavy"/>
                <a:sym typeface="Gotham Heavy"/>
              </a:rPr>
              <a:t>WEB</a:t>
            </a:r>
            <a:r>
              <a:rPr lang="en-US" b="true" sz="6399" spc="-191">
                <a:solidFill>
                  <a:srgbClr val="08A54C"/>
                </a:solidFill>
                <a:latin typeface="Gotham Heavy"/>
                <a:ea typeface="Gotham Heavy"/>
                <a:cs typeface="Gotham Heavy"/>
                <a:sym typeface="Gotham Heavy"/>
              </a:rPr>
              <a:t> PLATFORM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20258" y="9031605"/>
            <a:ext cx="474628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960">
                <a:solidFill>
                  <a:srgbClr val="08A54C"/>
                </a:solidFill>
                <a:latin typeface="Gotham Bold"/>
                <a:ea typeface="Gotham Bold"/>
                <a:cs typeface="Gotham Bold"/>
                <a:sym typeface="Gotham Bold"/>
              </a:rPr>
              <a:t>PRESENT DESIGN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74141" y="7200900"/>
            <a:ext cx="3342869" cy="3086100"/>
            <a:chOff x="0" y="0"/>
            <a:chExt cx="88042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0426" cy="812800"/>
            </a:xfrm>
            <a:custGeom>
              <a:avLst/>
              <a:gdLst/>
              <a:ahLst/>
              <a:cxnLst/>
              <a:rect r="r" b="b" t="t" l="l"/>
              <a:pathLst>
                <a:path h="812800" w="880426">
                  <a:moveTo>
                    <a:pt x="0" y="0"/>
                  </a:moveTo>
                  <a:lnTo>
                    <a:pt x="880426" y="0"/>
                  </a:lnTo>
                  <a:lnTo>
                    <a:pt x="88042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8A54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8042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77227" y="1028700"/>
            <a:ext cx="8010773" cy="8229600"/>
            <a:chOff x="0" y="0"/>
            <a:chExt cx="10681031" cy="10972800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20029" t="0" r="30083" b="0"/>
            <a:stretch>
              <a:fillRect/>
            </a:stretch>
          </p:blipFill>
          <p:spPr>
            <a:xfrm flipH="false" flipV="false">
              <a:off x="0" y="0"/>
              <a:ext cx="10681031" cy="10972800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16655766" y="389964"/>
            <a:ext cx="1207069" cy="3086100"/>
            <a:chOff x="0" y="0"/>
            <a:chExt cx="317911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7911" cy="812800"/>
            </a:xfrm>
            <a:custGeom>
              <a:avLst/>
              <a:gdLst/>
              <a:ahLst/>
              <a:cxnLst/>
              <a:rect r="r" b="b" t="t" l="l"/>
              <a:pathLst>
                <a:path h="812800" w="317911">
                  <a:moveTo>
                    <a:pt x="158956" y="0"/>
                  </a:moveTo>
                  <a:lnTo>
                    <a:pt x="158956" y="0"/>
                  </a:lnTo>
                  <a:cubicBezTo>
                    <a:pt x="201113" y="0"/>
                    <a:pt x="241544" y="16747"/>
                    <a:pt x="271354" y="46557"/>
                  </a:cubicBezTo>
                  <a:cubicBezTo>
                    <a:pt x="301164" y="76367"/>
                    <a:pt x="317911" y="116798"/>
                    <a:pt x="317911" y="158956"/>
                  </a:cubicBezTo>
                  <a:lnTo>
                    <a:pt x="317911" y="653844"/>
                  </a:lnTo>
                  <a:cubicBezTo>
                    <a:pt x="317911" y="696002"/>
                    <a:pt x="301164" y="736433"/>
                    <a:pt x="271354" y="766243"/>
                  </a:cubicBezTo>
                  <a:cubicBezTo>
                    <a:pt x="241544" y="796053"/>
                    <a:pt x="201113" y="812800"/>
                    <a:pt x="158956" y="812800"/>
                  </a:cubicBezTo>
                  <a:lnTo>
                    <a:pt x="158956" y="812800"/>
                  </a:lnTo>
                  <a:cubicBezTo>
                    <a:pt x="116798" y="812800"/>
                    <a:pt x="76367" y="796053"/>
                    <a:pt x="46557" y="766243"/>
                  </a:cubicBezTo>
                  <a:cubicBezTo>
                    <a:pt x="16747" y="736433"/>
                    <a:pt x="0" y="696002"/>
                    <a:pt x="0" y="653844"/>
                  </a:cubicBezTo>
                  <a:lnTo>
                    <a:pt x="0" y="158956"/>
                  </a:lnTo>
                  <a:cubicBezTo>
                    <a:pt x="0" y="116798"/>
                    <a:pt x="16747" y="76367"/>
                    <a:pt x="46557" y="46557"/>
                  </a:cubicBezTo>
                  <a:cubicBezTo>
                    <a:pt x="76367" y="16747"/>
                    <a:pt x="116798" y="0"/>
                    <a:pt x="158956" y="0"/>
                  </a:cubicBezTo>
                  <a:close/>
                </a:path>
              </a:pathLst>
            </a:custGeom>
            <a:solidFill>
              <a:srgbClr val="ECCC7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1791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0532" y="8694910"/>
            <a:ext cx="1050645" cy="1222569"/>
            <a:chOff x="0" y="0"/>
            <a:chExt cx="6985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18240"/>
              <a:ext cx="698500" cy="776320"/>
            </a:xfrm>
            <a:custGeom>
              <a:avLst/>
              <a:gdLst/>
              <a:ahLst/>
              <a:cxnLst/>
              <a:rect r="r" b="b" t="t" l="l"/>
              <a:pathLst>
                <a:path h="776320" w="698500">
                  <a:moveTo>
                    <a:pt x="431352" y="29529"/>
                  </a:moveTo>
                  <a:lnTo>
                    <a:pt x="616398" y="137191"/>
                  </a:lnTo>
                  <a:cubicBezTo>
                    <a:pt x="667229" y="166766"/>
                    <a:pt x="698500" y="221139"/>
                    <a:pt x="698500" y="279948"/>
                  </a:cubicBezTo>
                  <a:lnTo>
                    <a:pt x="698500" y="496372"/>
                  </a:lnTo>
                  <a:cubicBezTo>
                    <a:pt x="698500" y="555181"/>
                    <a:pt x="667229" y="609554"/>
                    <a:pt x="616398" y="639129"/>
                  </a:cubicBezTo>
                  <a:lnTo>
                    <a:pt x="431352" y="746791"/>
                  </a:lnTo>
                  <a:cubicBezTo>
                    <a:pt x="380600" y="776320"/>
                    <a:pt x="317900" y="776320"/>
                    <a:pt x="267148" y="746791"/>
                  </a:cubicBezTo>
                  <a:lnTo>
                    <a:pt x="82102" y="639129"/>
                  </a:lnTo>
                  <a:cubicBezTo>
                    <a:pt x="31271" y="609554"/>
                    <a:pt x="0" y="555181"/>
                    <a:pt x="0" y="496372"/>
                  </a:cubicBezTo>
                  <a:lnTo>
                    <a:pt x="0" y="279948"/>
                  </a:lnTo>
                  <a:cubicBezTo>
                    <a:pt x="0" y="221139"/>
                    <a:pt x="31271" y="166766"/>
                    <a:pt x="82102" y="137191"/>
                  </a:cubicBezTo>
                  <a:lnTo>
                    <a:pt x="267148" y="29529"/>
                  </a:lnTo>
                  <a:cubicBezTo>
                    <a:pt x="317900" y="0"/>
                    <a:pt x="380600" y="0"/>
                    <a:pt x="431352" y="29529"/>
                  </a:cubicBezTo>
                  <a:close/>
                </a:path>
              </a:pathLst>
            </a:custGeom>
            <a:solidFill>
              <a:srgbClr val="08A54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73025"/>
              <a:ext cx="6985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05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55401" y="-611389"/>
            <a:ext cx="2228298" cy="1222779"/>
          </a:xfrm>
          <a:custGeom>
            <a:avLst/>
            <a:gdLst/>
            <a:ahLst/>
            <a:cxnLst/>
            <a:rect r="r" b="b" t="t" l="l"/>
            <a:pathLst>
              <a:path h="1222779" w="2228298">
                <a:moveTo>
                  <a:pt x="0" y="0"/>
                </a:moveTo>
                <a:lnTo>
                  <a:pt x="2228298" y="0"/>
                </a:lnTo>
                <a:lnTo>
                  <a:pt x="2228298" y="1222778"/>
                </a:lnTo>
                <a:lnTo>
                  <a:pt x="0" y="1222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55401" y="2356492"/>
            <a:ext cx="7788599" cy="8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47"/>
              </a:lnSpc>
              <a:spcBef>
                <a:spcPct val="0"/>
              </a:spcBef>
            </a:pPr>
            <a:r>
              <a:rPr lang="en-US" b="true" sz="6399" spc="-191">
                <a:solidFill>
                  <a:srgbClr val="08A54C"/>
                </a:solidFill>
                <a:latin typeface="Gotham Heavy"/>
                <a:ea typeface="Gotham Heavy"/>
                <a:cs typeface="Gotham Heavy"/>
                <a:sym typeface="Gotham Heavy"/>
              </a:rPr>
              <a:t>AI</a:t>
            </a:r>
            <a:r>
              <a:rPr lang="en-US" b="true" sz="6399" spc="-191">
                <a:solidFill>
                  <a:srgbClr val="08A54C"/>
                </a:solidFill>
                <a:latin typeface="Gotham Heavy"/>
                <a:ea typeface="Gotham Heavy"/>
                <a:cs typeface="Gotham Heavy"/>
                <a:sym typeface="Gotham Heavy"/>
              </a:rPr>
              <a:t> </a:t>
            </a:r>
            <a:r>
              <a:rPr lang="en-US" b="true" sz="6399" spc="-191">
                <a:solidFill>
                  <a:srgbClr val="08A54C"/>
                </a:solidFill>
                <a:latin typeface="Gotham Heavy"/>
                <a:ea typeface="Gotham Heavy"/>
                <a:cs typeface="Gotham Heavy"/>
                <a:sym typeface="Gotham Heavy"/>
              </a:rPr>
              <a:t>MODEL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3070" y="3679045"/>
            <a:ext cx="8340930" cy="465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 spc="-26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Case Study:</a:t>
            </a:r>
            <a:r>
              <a:rPr lang="en-US" sz="2699" spc="-26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Algiers Wilaya</a:t>
            </a:r>
          </a:p>
          <a:p>
            <a:pPr algn="l">
              <a:lnSpc>
                <a:spcPts val="3359"/>
              </a:lnSpc>
            </a:pP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We consider Algiers Wilaya as a reference example for our model demonstration.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We will present a Jupyter Notebook showcasing the following steps: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Preprocessing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Initial Clustering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Balanced Clusters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Cluster Update Logic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671894" y="8289145"/>
            <a:ext cx="570224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960">
                <a:solidFill>
                  <a:srgbClr val="08A54C"/>
                </a:solidFill>
                <a:latin typeface="Gotham Bold"/>
                <a:ea typeface="Gotham Bold"/>
                <a:cs typeface="Gotham Bold"/>
                <a:sym typeface="Gotham Bold"/>
              </a:rPr>
              <a:t>JUPITER NOTEBOOK</a:t>
            </a:r>
          </a:p>
        </p:txBody>
      </p:sp>
      <p:sp>
        <p:nvSpPr>
          <p:cNvPr name="AutoShape 17" id="17"/>
          <p:cNvSpPr/>
          <p:nvPr/>
        </p:nvSpPr>
        <p:spPr>
          <a:xfrm>
            <a:off x="2286937" y="8534890"/>
            <a:ext cx="960043" cy="0"/>
          </a:xfrm>
          <a:prstGeom prst="line">
            <a:avLst/>
          </a:prstGeom>
          <a:ln cap="flat" w="38100">
            <a:solidFill>
              <a:srgbClr val="08A54C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04791" y="0"/>
            <a:ext cx="7483209" cy="10287000"/>
            <a:chOff x="0" y="0"/>
            <a:chExt cx="197088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7088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70886">
                  <a:moveTo>
                    <a:pt x="0" y="0"/>
                  </a:moveTo>
                  <a:lnTo>
                    <a:pt x="1970886" y="0"/>
                  </a:lnTo>
                  <a:lnTo>
                    <a:pt x="197088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A54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7088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0532" y="8694910"/>
            <a:ext cx="1050645" cy="1222569"/>
            <a:chOff x="0" y="0"/>
            <a:chExt cx="6985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8240"/>
              <a:ext cx="698500" cy="776320"/>
            </a:xfrm>
            <a:custGeom>
              <a:avLst/>
              <a:gdLst/>
              <a:ahLst/>
              <a:cxnLst/>
              <a:rect r="r" b="b" t="t" l="l"/>
              <a:pathLst>
                <a:path h="776320" w="698500">
                  <a:moveTo>
                    <a:pt x="431352" y="29529"/>
                  </a:moveTo>
                  <a:lnTo>
                    <a:pt x="616398" y="137191"/>
                  </a:lnTo>
                  <a:cubicBezTo>
                    <a:pt x="667229" y="166766"/>
                    <a:pt x="698500" y="221139"/>
                    <a:pt x="698500" y="279948"/>
                  </a:cubicBezTo>
                  <a:lnTo>
                    <a:pt x="698500" y="496372"/>
                  </a:lnTo>
                  <a:cubicBezTo>
                    <a:pt x="698500" y="555181"/>
                    <a:pt x="667229" y="609554"/>
                    <a:pt x="616398" y="639129"/>
                  </a:cubicBezTo>
                  <a:lnTo>
                    <a:pt x="431352" y="746791"/>
                  </a:lnTo>
                  <a:cubicBezTo>
                    <a:pt x="380600" y="776320"/>
                    <a:pt x="317900" y="776320"/>
                    <a:pt x="267148" y="746791"/>
                  </a:cubicBezTo>
                  <a:lnTo>
                    <a:pt x="82102" y="639129"/>
                  </a:lnTo>
                  <a:cubicBezTo>
                    <a:pt x="31271" y="609554"/>
                    <a:pt x="0" y="555181"/>
                    <a:pt x="0" y="496372"/>
                  </a:cubicBezTo>
                  <a:lnTo>
                    <a:pt x="0" y="279948"/>
                  </a:lnTo>
                  <a:cubicBezTo>
                    <a:pt x="0" y="221139"/>
                    <a:pt x="31271" y="166766"/>
                    <a:pt x="82102" y="137191"/>
                  </a:cubicBezTo>
                  <a:lnTo>
                    <a:pt x="267148" y="29529"/>
                  </a:lnTo>
                  <a:cubicBezTo>
                    <a:pt x="317900" y="0"/>
                    <a:pt x="380600" y="0"/>
                    <a:pt x="431352" y="29529"/>
                  </a:cubicBezTo>
                  <a:close/>
                </a:path>
              </a:pathLst>
            </a:custGeom>
            <a:solidFill>
              <a:srgbClr val="08A54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73025"/>
              <a:ext cx="6985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06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55401" y="-611389"/>
            <a:ext cx="2228298" cy="1222779"/>
          </a:xfrm>
          <a:custGeom>
            <a:avLst/>
            <a:gdLst/>
            <a:ahLst/>
            <a:cxnLst/>
            <a:rect r="r" b="b" t="t" l="l"/>
            <a:pathLst>
              <a:path h="1222779" w="2228298">
                <a:moveTo>
                  <a:pt x="0" y="0"/>
                </a:moveTo>
                <a:lnTo>
                  <a:pt x="2228298" y="0"/>
                </a:lnTo>
                <a:lnTo>
                  <a:pt x="2228298" y="1222778"/>
                </a:lnTo>
                <a:lnTo>
                  <a:pt x="0" y="1222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55401" y="2034461"/>
            <a:ext cx="7788599" cy="8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47"/>
              </a:lnSpc>
              <a:spcBef>
                <a:spcPct val="0"/>
              </a:spcBef>
            </a:pPr>
            <a:r>
              <a:rPr lang="en-US" b="true" sz="6399" spc="-191">
                <a:solidFill>
                  <a:srgbClr val="08A54C"/>
                </a:solidFill>
                <a:latin typeface="Gotham Heavy"/>
                <a:ea typeface="Gotham Heavy"/>
                <a:cs typeface="Gotham Heavy"/>
                <a:sym typeface="Gotham Heavy"/>
              </a:rPr>
              <a:t>MOBILE</a:t>
            </a:r>
            <a:r>
              <a:rPr lang="en-US" b="true" sz="6399" spc="-191">
                <a:solidFill>
                  <a:srgbClr val="08A54C"/>
                </a:solidFill>
                <a:latin typeface="Gotham Heavy"/>
                <a:ea typeface="Gotham Heavy"/>
                <a:cs typeface="Gotham Heavy"/>
                <a:sym typeface="Gotham Heavy"/>
              </a:rPr>
              <a:t> APP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5401" y="3078150"/>
            <a:ext cx="7788599" cy="584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24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Optimized Visit Route</a:t>
            </a:r>
          </a:p>
          <a:p>
            <a:pPr algn="l">
              <a:lnSpc>
                <a:spcPts val="3359"/>
              </a:lnSpc>
            </a:pP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Automatically displays the best route and PDV visit order, starting from the nearest or most efficient point.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24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QR Code Scanning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Allows the representative to </a:t>
            </a: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scan a QR code at each PDV to confirm their visit and mark it as completed</a:t>
            </a: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in real time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24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Progress Tracking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View personal statistics such as: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-2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Number of PDVs visited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592030" y="6836350"/>
            <a:ext cx="1647210" cy="237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9"/>
              </a:lnSpc>
            </a:pPr>
            <a:r>
              <a:rPr lang="en-US" b="true" sz="1727" spc="172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LOCAL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26315" y="6836350"/>
            <a:ext cx="1647210" cy="237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9"/>
              </a:lnSpc>
            </a:pPr>
            <a:r>
              <a:rPr lang="en-US" b="true" sz="1727" spc="172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OVERSEAS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857318" y="611389"/>
            <a:ext cx="6270383" cy="9280716"/>
            <a:chOff x="0" y="0"/>
            <a:chExt cx="8360510" cy="12374288"/>
          </a:xfrm>
        </p:grpSpPr>
        <p:pic>
          <p:nvPicPr>
            <p:cNvPr name="Picture 14" id="14"/>
            <p:cNvPicPr>
              <a:picLocks noChangeAspect="true"/>
            </p:cNvPicPr>
            <p:nvPr/>
          </p:nvPicPr>
          <p:blipFill>
            <a:blip r:embed="rId4"/>
            <a:srcRect l="3262" t="55" r="1882" b="6406"/>
            <a:stretch>
              <a:fillRect/>
            </a:stretch>
          </p:blipFill>
          <p:spPr>
            <a:xfrm flipH="false" flipV="false">
              <a:off x="0" y="0"/>
              <a:ext cx="8360510" cy="12374288"/>
            </a:xfrm>
            <a:prstGeom prst="rect">
              <a:avLst/>
            </a:prstGeom>
          </p:spPr>
        </p:pic>
      </p:grpSp>
      <p:sp>
        <p:nvSpPr>
          <p:cNvPr name="TextBox 15" id="15"/>
          <p:cNvSpPr txBox="true"/>
          <p:nvPr/>
        </p:nvSpPr>
        <p:spPr>
          <a:xfrm rot="0">
            <a:off x="8604082" y="8900429"/>
            <a:ext cx="570224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960">
                <a:solidFill>
                  <a:srgbClr val="08A54C"/>
                </a:solidFill>
                <a:latin typeface="Gotham Bold"/>
                <a:ea typeface="Gotham Bold"/>
                <a:cs typeface="Gotham Bold"/>
                <a:sym typeface="Gotham Bold"/>
              </a:rPr>
              <a:t>VIDEO</a:t>
            </a:r>
          </a:p>
        </p:txBody>
      </p:sp>
      <p:sp>
        <p:nvSpPr>
          <p:cNvPr name="AutoShape 16" id="16"/>
          <p:cNvSpPr/>
          <p:nvPr/>
        </p:nvSpPr>
        <p:spPr>
          <a:xfrm>
            <a:off x="7311225" y="9146174"/>
            <a:ext cx="960043" cy="0"/>
          </a:xfrm>
          <a:prstGeom prst="line">
            <a:avLst/>
          </a:prstGeom>
          <a:ln cap="flat" w="38100">
            <a:solidFill>
              <a:srgbClr val="08A54C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34867" y="0"/>
            <a:ext cx="9053133" cy="10287000"/>
            <a:chOff x="0" y="0"/>
            <a:chExt cx="238436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4364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84364">
                  <a:moveTo>
                    <a:pt x="0" y="0"/>
                  </a:moveTo>
                  <a:lnTo>
                    <a:pt x="2384364" y="0"/>
                  </a:lnTo>
                  <a:lnTo>
                    <a:pt x="238436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A54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8436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204878" y="2422252"/>
            <a:ext cx="11878244" cy="5442496"/>
            <a:chOff x="0" y="0"/>
            <a:chExt cx="3128426" cy="14334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28426" cy="1433415"/>
            </a:xfrm>
            <a:custGeom>
              <a:avLst/>
              <a:gdLst/>
              <a:ahLst/>
              <a:cxnLst/>
              <a:rect r="r" b="b" t="t" l="l"/>
              <a:pathLst>
                <a:path h="1433415" w="3128426">
                  <a:moveTo>
                    <a:pt x="0" y="0"/>
                  </a:moveTo>
                  <a:lnTo>
                    <a:pt x="3128426" y="0"/>
                  </a:lnTo>
                  <a:lnTo>
                    <a:pt x="3128426" y="1433415"/>
                  </a:lnTo>
                  <a:lnTo>
                    <a:pt x="0" y="143341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28426" cy="1471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181733" y="1009650"/>
            <a:ext cx="1846973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0" y="9277350"/>
            <a:ext cx="1846973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009650" y="-6168487"/>
            <a:ext cx="0" cy="18469733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7278350" y="-6354280"/>
            <a:ext cx="0" cy="18469733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540532" y="8694910"/>
            <a:ext cx="1050645" cy="1222569"/>
            <a:chOff x="0" y="0"/>
            <a:chExt cx="6985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18240"/>
              <a:ext cx="698500" cy="776320"/>
            </a:xfrm>
            <a:custGeom>
              <a:avLst/>
              <a:gdLst/>
              <a:ahLst/>
              <a:cxnLst/>
              <a:rect r="r" b="b" t="t" l="l"/>
              <a:pathLst>
                <a:path h="776320" w="698500">
                  <a:moveTo>
                    <a:pt x="431352" y="29529"/>
                  </a:moveTo>
                  <a:lnTo>
                    <a:pt x="616398" y="137191"/>
                  </a:lnTo>
                  <a:cubicBezTo>
                    <a:pt x="667229" y="166766"/>
                    <a:pt x="698500" y="221139"/>
                    <a:pt x="698500" y="279948"/>
                  </a:cubicBezTo>
                  <a:lnTo>
                    <a:pt x="698500" y="496372"/>
                  </a:lnTo>
                  <a:cubicBezTo>
                    <a:pt x="698500" y="555181"/>
                    <a:pt x="667229" y="609554"/>
                    <a:pt x="616398" y="639129"/>
                  </a:cubicBezTo>
                  <a:lnTo>
                    <a:pt x="431352" y="746791"/>
                  </a:lnTo>
                  <a:cubicBezTo>
                    <a:pt x="380600" y="776320"/>
                    <a:pt x="317900" y="776320"/>
                    <a:pt x="267148" y="746791"/>
                  </a:cubicBezTo>
                  <a:lnTo>
                    <a:pt x="82102" y="639129"/>
                  </a:lnTo>
                  <a:cubicBezTo>
                    <a:pt x="31271" y="609554"/>
                    <a:pt x="0" y="555181"/>
                    <a:pt x="0" y="496372"/>
                  </a:cubicBezTo>
                  <a:lnTo>
                    <a:pt x="0" y="279948"/>
                  </a:lnTo>
                  <a:cubicBezTo>
                    <a:pt x="0" y="221139"/>
                    <a:pt x="31271" y="166766"/>
                    <a:pt x="82102" y="137191"/>
                  </a:cubicBezTo>
                  <a:lnTo>
                    <a:pt x="267148" y="29529"/>
                  </a:lnTo>
                  <a:cubicBezTo>
                    <a:pt x="317900" y="0"/>
                    <a:pt x="380600" y="0"/>
                    <a:pt x="431352" y="29529"/>
                  </a:cubicBezTo>
                  <a:close/>
                </a:path>
              </a:pathLst>
            </a:custGeom>
            <a:solidFill>
              <a:srgbClr val="08A54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3025"/>
              <a:ext cx="698500" cy="600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09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384988" y="3600450"/>
            <a:ext cx="8790426" cy="3086100"/>
            <a:chOff x="0" y="0"/>
            <a:chExt cx="2315174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15174" cy="812800"/>
            </a:xfrm>
            <a:custGeom>
              <a:avLst/>
              <a:gdLst/>
              <a:ahLst/>
              <a:cxnLst/>
              <a:rect r="r" b="b" t="t" l="l"/>
              <a:pathLst>
                <a:path h="812800" w="2315174">
                  <a:moveTo>
                    <a:pt x="0" y="0"/>
                  </a:moveTo>
                  <a:lnTo>
                    <a:pt x="2315174" y="0"/>
                  </a:lnTo>
                  <a:lnTo>
                    <a:pt x="231517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8A54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315174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334869" y="4733481"/>
            <a:ext cx="5799996" cy="8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7"/>
              </a:lnSpc>
              <a:spcBef>
                <a:spcPct val="0"/>
              </a:spcBef>
            </a:pPr>
            <a:r>
              <a:rPr lang="en-US" b="true" sz="6399" spc="-191" strike="noStrike" u="none">
                <a:solidFill>
                  <a:srgbClr val="FFFFFF"/>
                </a:solidFill>
                <a:latin typeface="Gotham Heavy"/>
                <a:ea typeface="Gotham Heavy"/>
                <a:cs typeface="Gotham Heavy"/>
                <a:sym typeface="Gotham Heav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DAGnzj1UqmE</dc:identifier>
  <dcterms:modified xsi:type="dcterms:W3CDTF">2011-08-01T06:04:30Z</dcterms:modified>
  <cp:revision>1</cp:revision>
  <dc:title>Green Professional Business Presentation</dc:title>
</cp:coreProperties>
</file>